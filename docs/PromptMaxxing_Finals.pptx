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9933A"/>
          </a:solidFill>
          <a:ln w="12700">
            <a:solidFill>
              <a:srgbClr val="C993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1A3259"/>
          </a:solidFill>
          <a:ln w="12700">
            <a:solidFill>
              <a:srgbClr val="1A325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0"/>
            <a:ext cx="54864" cy="5143500"/>
          </a:xfrm>
          <a:prstGeom prst="rect">
            <a:avLst/>
          </a:prstGeom>
          <a:solidFill>
            <a:srgbClr val="C9933A"/>
          </a:solidFill>
          <a:ln w="12700">
            <a:solidFill>
              <a:srgbClr val="C9933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457200"/>
            <a:ext cx="777240" cy="777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5029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E8B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PRESENTATION  ✦  MOBILE DEVELOPMENT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457200" y="96012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Scripture</a:t>
            </a:r>
            <a:endParaRPr lang="en-US" sz="6800" dirty="0"/>
          </a:p>
        </p:txBody>
      </p:sp>
      <p:sp>
        <p:nvSpPr>
          <p:cNvPr id="8" name="Text 5"/>
          <p:cNvSpPr/>
          <p:nvPr/>
        </p:nvSpPr>
        <p:spPr>
          <a:xfrm>
            <a:off x="457200" y="173736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0" i="1" dirty="0">
                <a:solidFill>
                  <a:srgbClr val="E8B9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Light</a:t>
            </a:r>
            <a:endParaRPr lang="en-US" sz="5000" dirty="0"/>
          </a:p>
        </p:txBody>
      </p:sp>
      <p:sp>
        <p:nvSpPr>
          <p:cNvPr id="9" name="Text 6"/>
          <p:cNvSpPr/>
          <p:nvPr/>
        </p:nvSpPr>
        <p:spPr>
          <a:xfrm>
            <a:off x="457200" y="260604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"Read. Listen. Reflect. Anywhere."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7200" y="3108960"/>
            <a:ext cx="2743200" cy="45720"/>
          </a:xfrm>
          <a:prstGeom prst="rect">
            <a:avLst/>
          </a:prstGeom>
          <a:solidFill>
            <a:srgbClr val="C9933A"/>
          </a:solidFill>
          <a:ln w="12700">
            <a:solidFill>
              <a:srgbClr val="C9933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329184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 PromptMaxxing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7200" y="365760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Codera, Neil Ryan B.   ·   Mariscal, Psych Edsheil G.   ·   Ponce, John Bryan   ·   Yap, David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748272" y="1097280"/>
            <a:ext cx="109728" cy="109728"/>
          </a:xfrm>
          <a:prstGeom prst="oval">
            <a:avLst/>
          </a:prstGeom>
          <a:solidFill>
            <a:srgbClr val="C9933A"/>
          </a:solidFill>
          <a:ln w="12700">
            <a:solidFill>
              <a:srgbClr val="C9933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949440" y="10698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App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748272" y="1920240"/>
            <a:ext cx="109728" cy="109728"/>
          </a:xfrm>
          <a:prstGeom prst="oval">
            <a:avLst/>
          </a:prstGeom>
          <a:solidFill>
            <a:srgbClr val="C9933A"/>
          </a:solidFill>
          <a:ln w="12700">
            <a:solidFill>
              <a:srgbClr val="C9933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949440" y="18928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Kotlin + Java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748272" y="2743200"/>
            <a:ext cx="109728" cy="109728"/>
          </a:xfrm>
          <a:prstGeom prst="oval">
            <a:avLst/>
          </a:prstGeom>
          <a:solidFill>
            <a:srgbClr val="C9933A"/>
          </a:solidFill>
          <a:ln w="12700">
            <a:solidFill>
              <a:srgbClr val="C9933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949440" y="27157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Bible Books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748272" y="3566160"/>
            <a:ext cx="109728" cy="109728"/>
          </a:xfrm>
          <a:prstGeom prst="oval">
            <a:avLst/>
          </a:prstGeom>
          <a:solidFill>
            <a:srgbClr val="C9933A"/>
          </a:solidFill>
          <a:ln w="12700">
            <a:solidFill>
              <a:srgbClr val="C9933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949440" y="35387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Experience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9933A"/>
          </a:solidFill>
          <a:ln w="12700">
            <a:solidFill>
              <a:srgbClr val="C993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Contents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45720"/>
          </a:xfrm>
          <a:prstGeom prst="rect">
            <a:avLst/>
          </a:prstGeom>
          <a:solidFill>
            <a:srgbClr val="C9933A"/>
          </a:solidFill>
          <a:ln w="12700">
            <a:solidFill>
              <a:srgbClr val="C993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97280"/>
            <a:ext cx="4023360" cy="960120"/>
          </a:xfrm>
          <a:prstGeom prst="rect">
            <a:avLst/>
          </a:prstGeom>
          <a:solidFill>
            <a:srgbClr val="F0EAD6"/>
          </a:solidFill>
          <a:ln w="12700">
            <a:solidFill>
              <a:srgbClr val="DDD0B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97280"/>
            <a:ext cx="502920" cy="960120"/>
          </a:xfrm>
          <a:prstGeom prst="rect">
            <a:avLst/>
          </a:prstGeom>
          <a:solidFill>
            <a:srgbClr val="C9933A"/>
          </a:solidFill>
          <a:ln w="12700">
            <a:solidFill>
              <a:srgbClr val="C993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88720"/>
            <a:ext cx="502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118872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Overview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155448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Scripture &amp; Light?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097280"/>
            <a:ext cx="4023360" cy="960120"/>
          </a:xfrm>
          <a:prstGeom prst="rect">
            <a:avLst/>
          </a:prstGeom>
          <a:solidFill>
            <a:srgbClr val="EAF0FA"/>
          </a:solidFill>
          <a:ln w="12700">
            <a:solidFill>
              <a:srgbClr val="C0CD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097280"/>
            <a:ext cx="502920" cy="96012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188720"/>
            <a:ext cx="502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349240" y="118872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349240" y="155448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app can do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286000"/>
            <a:ext cx="4023360" cy="960120"/>
          </a:xfrm>
          <a:prstGeom prst="rect">
            <a:avLst/>
          </a:prstGeom>
          <a:solidFill>
            <a:srgbClr val="F0EAD6"/>
          </a:solidFill>
          <a:ln w="12700">
            <a:solidFill>
              <a:srgbClr val="DDD0B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286000"/>
            <a:ext cx="502920" cy="960120"/>
          </a:xfrm>
          <a:prstGeom prst="rect">
            <a:avLst/>
          </a:prstGeom>
          <a:solidFill>
            <a:srgbClr val="C9933A"/>
          </a:solidFill>
          <a:ln w="12700">
            <a:solidFill>
              <a:srgbClr val="C993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377440"/>
            <a:ext cx="502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60120" y="237744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Screens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60120" y="274320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· Search · Read · Settings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2286000"/>
            <a:ext cx="4023360" cy="960120"/>
          </a:xfrm>
          <a:prstGeom prst="rect">
            <a:avLst/>
          </a:prstGeom>
          <a:solidFill>
            <a:srgbClr val="EAF0FA"/>
          </a:solidFill>
          <a:ln w="12700">
            <a:solidFill>
              <a:srgbClr val="C0CD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0" y="2286000"/>
            <a:ext cx="502920" cy="96012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2377440"/>
            <a:ext cx="502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349240" y="237744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Implementation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349240" y="274320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choices, architecture, data flow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3474720"/>
            <a:ext cx="4023360" cy="960120"/>
          </a:xfrm>
          <a:prstGeom prst="rect">
            <a:avLst/>
          </a:prstGeom>
          <a:solidFill>
            <a:srgbClr val="F0EAD6"/>
          </a:solidFill>
          <a:ln w="12700">
            <a:solidFill>
              <a:srgbClr val="DDD0B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3474720"/>
            <a:ext cx="502920" cy="960120"/>
          </a:xfrm>
          <a:prstGeom prst="rect">
            <a:avLst/>
          </a:prstGeom>
          <a:solidFill>
            <a:srgbClr val="C9933A"/>
          </a:solidFill>
          <a:ln w="12700">
            <a:solidFill>
              <a:srgbClr val="C9933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566160"/>
            <a:ext cx="502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60120" y="356616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&amp; Recommendations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60120" y="393192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and future roadmap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54880" y="3474720"/>
            <a:ext cx="4023360" cy="960120"/>
          </a:xfrm>
          <a:prstGeom prst="rect">
            <a:avLst/>
          </a:prstGeom>
          <a:solidFill>
            <a:srgbClr val="EAF0FA"/>
          </a:solidFill>
          <a:ln w="12700">
            <a:solidFill>
              <a:srgbClr val="C0CDE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54880" y="3474720"/>
            <a:ext cx="502920" cy="96012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3566160"/>
            <a:ext cx="502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349240" y="356616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349240" y="393192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and closing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1A3259"/>
          </a:solidFill>
          <a:ln w="12700">
            <a:solidFill>
              <a:srgbClr val="1A325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429000"/>
            <a:ext cx="9144000" cy="64008"/>
          </a:xfrm>
          <a:prstGeom prst="rect">
            <a:avLst/>
          </a:prstGeom>
          <a:solidFill>
            <a:srgbClr val="C9933A"/>
          </a:solidFill>
          <a:ln w="12700">
            <a:solidFill>
              <a:srgbClr val="C993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5720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0" b="1" dirty="0">
                <a:solidFill>
                  <a:srgbClr val="1A32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00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 Overview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457200" y="21762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E8B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Scripture &amp; Light?</a:t>
            </a:r>
            <a:endParaRPr lang="en-US" sz="18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365760"/>
            <a:ext cx="1188720" cy="11887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3703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Bible App  ·  Kotlin + Java  ·  Android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9933A"/>
          </a:solidFill>
          <a:ln w="12700">
            <a:solidFill>
              <a:srgbClr val="C993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E8B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OVERVIEW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Scripture &amp; Light?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4754880" cy="45720"/>
          </a:xfrm>
          <a:prstGeom prst="rect">
            <a:avLst/>
          </a:prstGeom>
          <a:solidFill>
            <a:srgbClr val="C9933A"/>
          </a:solidFill>
          <a:ln w="12700">
            <a:solidFill>
              <a:srgbClr val="C993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15568"/>
            <a:ext cx="146304" cy="146304"/>
          </a:xfrm>
          <a:prstGeom prst="oval">
            <a:avLst/>
          </a:prstGeom>
          <a:solidFill>
            <a:srgbClr val="C9933A"/>
          </a:solidFill>
          <a:ln w="12700">
            <a:solidFill>
              <a:srgbClr val="C993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07899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native Android Bible reading application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709928"/>
            <a:ext cx="146304" cy="146304"/>
          </a:xfrm>
          <a:prstGeom prst="oval">
            <a:avLst/>
          </a:prstGeom>
          <a:solidFill>
            <a:srgbClr val="C9933A"/>
          </a:solidFill>
          <a:ln w="12700">
            <a:solidFill>
              <a:srgbClr val="C993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67335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Kotlin + Java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304288"/>
            <a:ext cx="146304" cy="146304"/>
          </a:xfrm>
          <a:prstGeom prst="oval">
            <a:avLst/>
          </a:prstGeom>
          <a:solidFill>
            <a:srgbClr val="C9933A"/>
          </a:solidFill>
          <a:ln w="12700">
            <a:solidFill>
              <a:srgbClr val="C993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26771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Genesis &amp; John — focused and intentional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2898648"/>
            <a:ext cx="146304" cy="146304"/>
          </a:xfrm>
          <a:prstGeom prst="oval">
            <a:avLst/>
          </a:prstGeom>
          <a:solidFill>
            <a:srgbClr val="C9933A"/>
          </a:solidFill>
          <a:ln w="12700">
            <a:solidFill>
              <a:srgbClr val="C993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86207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login required · Works fully offline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3493008"/>
            <a:ext cx="146304" cy="146304"/>
          </a:xfrm>
          <a:prstGeom prst="oval">
            <a:avLst/>
          </a:prstGeom>
          <a:solidFill>
            <a:srgbClr val="C9933A"/>
          </a:solidFill>
          <a:ln w="12700">
            <a:solidFill>
              <a:srgbClr val="C993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45643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worship music while reading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4087368"/>
            <a:ext cx="146304" cy="146304"/>
          </a:xfrm>
          <a:prstGeom prst="oval">
            <a:avLst/>
          </a:prstGeom>
          <a:solidFill>
            <a:srgbClr val="C9933A"/>
          </a:solidFill>
          <a:ln w="12700">
            <a:solidFill>
              <a:srgbClr val="C993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405079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verse reminder notification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760720" y="777240"/>
            <a:ext cx="3017520" cy="4023360"/>
          </a:xfrm>
          <a:prstGeom prst="rect">
            <a:avLst/>
          </a:prstGeom>
          <a:solidFill>
            <a:srgbClr val="0F1F3D"/>
          </a:solidFill>
          <a:ln/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760720" y="777240"/>
            <a:ext cx="3017520" cy="64008"/>
          </a:xfrm>
          <a:prstGeom prst="rect">
            <a:avLst/>
          </a:prstGeom>
          <a:solidFill>
            <a:srgbClr val="C9933A"/>
          </a:solidFill>
          <a:ln w="12700">
            <a:solidFill>
              <a:srgbClr val="C9933A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1005840"/>
            <a:ext cx="1005840" cy="100584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5852160" y="219456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F5ED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"Read. Listen.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i="1" dirty="0">
                <a:solidFill>
                  <a:srgbClr val="F5ED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Reflect. Anywhere."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6537960" y="3383280"/>
            <a:ext cx="1463040" cy="45720"/>
          </a:xfrm>
          <a:prstGeom prst="rect">
            <a:avLst/>
          </a:prstGeom>
          <a:solidFill>
            <a:srgbClr val="C9933A"/>
          </a:solidFill>
          <a:ln w="12700">
            <a:solidFill>
              <a:srgbClr val="C9933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852160" y="354787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B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Scripture &amp; Light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5852160" y="38862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PromptMaxxing · 2025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9933A"/>
          </a:solidFill>
          <a:ln w="12700">
            <a:solidFill>
              <a:srgbClr val="C993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E8B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App Can Do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229600" cy="45720"/>
          </a:xfrm>
          <a:prstGeom prst="rect">
            <a:avLst/>
          </a:prstGeom>
          <a:solidFill>
            <a:srgbClr val="C9933A"/>
          </a:solidFill>
          <a:ln w="12700">
            <a:solidFill>
              <a:srgbClr val="C993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97280"/>
            <a:ext cx="2606040" cy="1508760"/>
          </a:xfrm>
          <a:prstGeom prst="rect">
            <a:avLst/>
          </a:prstGeom>
          <a:solidFill>
            <a:srgbClr val="1A3259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97280"/>
            <a:ext cx="2606040" cy="54864"/>
          </a:xfrm>
          <a:prstGeom prst="rect">
            <a:avLst/>
          </a:prstGeom>
          <a:solidFill>
            <a:srgbClr val="C9933A"/>
          </a:solidFill>
          <a:ln w="12700">
            <a:solidFill>
              <a:srgbClr val="C9933A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34440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05840" y="12344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Bible Reading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178308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Genesis &amp; John — full chapters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00400" y="1097280"/>
            <a:ext cx="2606040" cy="1508760"/>
          </a:xfrm>
          <a:prstGeom prst="rect">
            <a:avLst/>
          </a:prstGeom>
          <a:solidFill>
            <a:srgbClr val="1A3259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00400" y="1097280"/>
            <a:ext cx="2606040" cy="54864"/>
          </a:xfrm>
          <a:prstGeom prst="rect">
            <a:avLst/>
          </a:prstGeom>
          <a:solidFill>
            <a:srgbClr val="C9933A"/>
          </a:solidFill>
          <a:ln w="12700">
            <a:solidFill>
              <a:srgbClr val="C9933A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1234440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840480" y="12344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 Audio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291840" y="178308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worship music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035040" y="1097280"/>
            <a:ext cx="2606040" cy="1508760"/>
          </a:xfrm>
          <a:prstGeom prst="rect">
            <a:avLst/>
          </a:prstGeom>
          <a:solidFill>
            <a:srgbClr val="1A3259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035040" y="1097280"/>
            <a:ext cx="2606040" cy="54864"/>
          </a:xfrm>
          <a:prstGeom prst="rect">
            <a:avLst/>
          </a:prstGeom>
          <a:solidFill>
            <a:srgbClr val="C9933A"/>
          </a:solidFill>
          <a:ln w="12700">
            <a:solidFill>
              <a:srgbClr val="C9933A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234440"/>
            <a:ext cx="411480" cy="4114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675120" y="12344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Verse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126480" y="178308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 reminders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365760" y="2834640"/>
            <a:ext cx="2606040" cy="1508760"/>
          </a:xfrm>
          <a:prstGeom prst="rect">
            <a:avLst/>
          </a:prstGeom>
          <a:solidFill>
            <a:srgbClr val="1A3259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365760" y="2834640"/>
            <a:ext cx="2606040" cy="54864"/>
          </a:xfrm>
          <a:prstGeom prst="rect">
            <a:avLst/>
          </a:prstGeom>
          <a:solidFill>
            <a:srgbClr val="C9933A"/>
          </a:solidFill>
          <a:ln w="12700">
            <a:solidFill>
              <a:srgbClr val="C9933A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971800"/>
            <a:ext cx="411480" cy="41148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005840" y="29718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457200" y="352044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within Genesis &amp; John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3200400" y="2834640"/>
            <a:ext cx="2606040" cy="1508760"/>
          </a:xfrm>
          <a:prstGeom prst="rect">
            <a:avLst/>
          </a:prstGeom>
          <a:solidFill>
            <a:srgbClr val="1A3259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3200400" y="2834640"/>
            <a:ext cx="2606040" cy="54864"/>
          </a:xfrm>
          <a:prstGeom prst="rect">
            <a:avLst/>
          </a:prstGeom>
          <a:solidFill>
            <a:srgbClr val="C9933A"/>
          </a:solidFill>
          <a:ln w="12700">
            <a:solidFill>
              <a:srgbClr val="C9933A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7560" y="2971800"/>
            <a:ext cx="411480" cy="41148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3840480" y="29718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</a:t>
            </a:r>
            <a:endParaRPr lang="en-US" sz="1300" dirty="0"/>
          </a:p>
        </p:txBody>
      </p:sp>
      <p:sp>
        <p:nvSpPr>
          <p:cNvPr id="30" name="Text 23"/>
          <p:cNvSpPr/>
          <p:nvPr/>
        </p:nvSpPr>
        <p:spPr>
          <a:xfrm>
            <a:off x="3291840" y="352044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Theme, font size &amp; preferences</a:t>
            </a:r>
            <a:endParaRPr lang="en-US" sz="1100" dirty="0"/>
          </a:p>
        </p:txBody>
      </p:sp>
      <p:sp>
        <p:nvSpPr>
          <p:cNvPr id="31" name="Shape 24"/>
          <p:cNvSpPr/>
          <p:nvPr/>
        </p:nvSpPr>
        <p:spPr>
          <a:xfrm>
            <a:off x="6035040" y="2834640"/>
            <a:ext cx="2606040" cy="1508760"/>
          </a:xfrm>
          <a:prstGeom prst="rect">
            <a:avLst/>
          </a:prstGeom>
          <a:solidFill>
            <a:srgbClr val="1A3259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6035040" y="2834640"/>
            <a:ext cx="2606040" cy="54864"/>
          </a:xfrm>
          <a:prstGeom prst="rect">
            <a:avLst/>
          </a:prstGeom>
          <a:solidFill>
            <a:srgbClr val="C9933A"/>
          </a:solidFill>
          <a:ln w="12700">
            <a:solidFill>
              <a:srgbClr val="C9933A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2200" y="2971800"/>
            <a:ext cx="411480" cy="41148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6675120" y="29718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&amp; Private</a:t>
            </a:r>
            <a:endParaRPr lang="en-US" sz="1300" dirty="0"/>
          </a:p>
        </p:txBody>
      </p:sp>
      <p:sp>
        <p:nvSpPr>
          <p:cNvPr id="35" name="Text 27"/>
          <p:cNvSpPr/>
          <p:nvPr/>
        </p:nvSpPr>
        <p:spPr>
          <a:xfrm>
            <a:off x="6126480" y="352044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login · No data collected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9933A"/>
          </a:solidFill>
          <a:ln w="12700">
            <a:solidFill>
              <a:srgbClr val="C993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E8B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SCREENS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Screens, One Purpose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45720"/>
          </a:xfrm>
          <a:prstGeom prst="rect">
            <a:avLst/>
          </a:prstGeom>
          <a:solidFill>
            <a:srgbClr val="C9933A"/>
          </a:solidFill>
          <a:ln w="12700">
            <a:solidFill>
              <a:srgbClr val="C993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97280"/>
            <a:ext cx="4023360" cy="1554480"/>
          </a:xfrm>
          <a:prstGeom prst="rect">
            <a:avLst/>
          </a:prstGeom>
          <a:solidFill>
            <a:srgbClr val="F0EAD6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97280"/>
            <a:ext cx="457200" cy="155448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00200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4400" y="123444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ACT_HOME  —  Home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914400" y="164592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verse card, quick access to Genesis &amp; John, app welcome banner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663440" y="1097280"/>
            <a:ext cx="4023360" cy="1554480"/>
          </a:xfrm>
          <a:prstGeom prst="rect">
            <a:avLst/>
          </a:prstGeom>
          <a:solidFill>
            <a:srgbClr val="F0EAD6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63440" y="1097280"/>
            <a:ext cx="457200" cy="155448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600200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212080" y="123444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ACT_SEARCH  —  Search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5212080" y="164592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Full-text search within Genesis and John with instant results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365760" y="2880360"/>
            <a:ext cx="4023360" cy="1554480"/>
          </a:xfrm>
          <a:prstGeom prst="rect">
            <a:avLst/>
          </a:prstGeom>
          <a:solidFill>
            <a:srgbClr val="F0EAD6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365760" y="2880360"/>
            <a:ext cx="457200" cy="155448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383280"/>
            <a:ext cx="292608" cy="29260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14400" y="301752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ACT_READ  —  Read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914400" y="342900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reader with ambient audio toggle and verse navigation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4663440" y="2880360"/>
            <a:ext cx="4023360" cy="1554480"/>
          </a:xfrm>
          <a:prstGeom prst="rect">
            <a:avLst/>
          </a:prstGeom>
          <a:solidFill>
            <a:srgbClr val="F0EAD6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663440" y="2880360"/>
            <a:ext cx="457200" cy="155448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3383280"/>
            <a:ext cx="292608" cy="29260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212080" y="301752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ACT_SETTINGS  —  Settings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5212080" y="342900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(Light/Dark/Sepia), font size, notification preferences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9933A"/>
          </a:solidFill>
          <a:ln w="12700">
            <a:solidFill>
              <a:srgbClr val="C993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E8B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IMPLEMENTATION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Screen Wireframes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45720"/>
          </a:xfrm>
          <a:prstGeom prst="rect">
            <a:avLst/>
          </a:prstGeom>
          <a:solidFill>
            <a:srgbClr val="C9933A"/>
          </a:solidFill>
          <a:ln w="12700">
            <a:solidFill>
              <a:srgbClr val="C993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058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Hand-drawn wireframes created before any code was written — one per Activity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0040" y="1371600"/>
            <a:ext cx="4114800" cy="1737360"/>
          </a:xfrm>
          <a:prstGeom prst="rect">
            <a:avLst/>
          </a:prstGeom>
          <a:solidFill>
            <a:srgbClr val="F8F4EC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371600"/>
            <a:ext cx="54864" cy="1737360"/>
          </a:xfrm>
          <a:prstGeom prst="rect">
            <a:avLst/>
          </a:prstGeom>
          <a:solidFill>
            <a:srgbClr val="C9933A"/>
          </a:solidFill>
          <a:ln w="12700">
            <a:solidFill>
              <a:srgbClr val="C9933A"/>
            </a:solidFill>
            <a:prstDash val="solid"/>
          </a:ln>
        </p:spPr>
      </p:sp>
      <p:pic>
        <p:nvPicPr>
          <p:cNvPr id="9" name="Image 0" descr="/mnt/user-data/uploads/ACT_HOM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29768" y="1481328"/>
            <a:ext cx="1280160" cy="150876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1828800" y="1508760"/>
            <a:ext cx="1508760" cy="29260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828800" y="150876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ACT_HOME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1828800" y="188366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Scripture of the Day + Library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828800" y="233172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Components: US_03 · SCRIPTURE_01 · BOOK_SELECT_01 · NAV_BAR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709160" y="1371600"/>
            <a:ext cx="4114800" cy="1737360"/>
          </a:xfrm>
          <a:prstGeom prst="rect">
            <a:avLst/>
          </a:prstGeom>
          <a:solidFill>
            <a:srgbClr val="F8F4EC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709160" y="1371600"/>
            <a:ext cx="54864" cy="1737360"/>
          </a:xfrm>
          <a:prstGeom prst="rect">
            <a:avLst/>
          </a:prstGeom>
          <a:solidFill>
            <a:srgbClr val="C9933A"/>
          </a:solidFill>
          <a:ln w="12700">
            <a:solidFill>
              <a:srgbClr val="C9933A"/>
            </a:solidFill>
            <a:prstDash val="solid"/>
          </a:ln>
        </p:spPr>
      </p:sp>
      <p:pic>
        <p:nvPicPr>
          <p:cNvPr id="16" name="Image 1" descr="/mnt/user-data/uploads/act_search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818888" y="1481328"/>
            <a:ext cx="1280160" cy="150876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6217920" y="1508760"/>
            <a:ext cx="1508760" cy="29260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217920" y="150876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ACT_SEARCH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6217920" y="188366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bar + Book results list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6217920" y="233172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Components: US_04 · SEARCH_1 · CLEAR_BTN · BOOK_ROW · EMPTY_STATE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320040" y="3246120"/>
            <a:ext cx="4114800" cy="1737360"/>
          </a:xfrm>
          <a:prstGeom prst="rect">
            <a:avLst/>
          </a:prstGeom>
          <a:solidFill>
            <a:srgbClr val="F8F4EC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320040" y="3246120"/>
            <a:ext cx="54864" cy="1737360"/>
          </a:xfrm>
          <a:prstGeom prst="rect">
            <a:avLst/>
          </a:prstGeom>
          <a:solidFill>
            <a:srgbClr val="C9933A"/>
          </a:solidFill>
          <a:ln w="12700">
            <a:solidFill>
              <a:srgbClr val="C9933A"/>
            </a:solidFill>
            <a:prstDash val="solid"/>
          </a:ln>
        </p:spPr>
      </p:sp>
      <p:pic>
        <p:nvPicPr>
          <p:cNvPr id="23" name="Image 2" descr="/mnt/user-data/uploads/ACT_REA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29768" y="3355848"/>
            <a:ext cx="1280160" cy="1508760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1828800" y="3383280"/>
            <a:ext cx="1508760" cy="29260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1828800" y="338328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ACT_READ</a:t>
            </a:r>
            <a:endParaRPr lang="en-US" sz="950" dirty="0"/>
          </a:p>
        </p:txBody>
      </p:sp>
      <p:sp>
        <p:nvSpPr>
          <p:cNvPr id="26" name="Text 21"/>
          <p:cNvSpPr/>
          <p:nvPr/>
        </p:nvSpPr>
        <p:spPr>
          <a:xfrm>
            <a:off x="1828800" y="375818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reader + Verse rows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1828800" y="420624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Components: US_01 · US_02 · BACKBTN_1 · BOOKLABEL_1 · VERSE_1–3</a:t>
            </a:r>
            <a:endParaRPr lang="en-US" sz="900" dirty="0"/>
          </a:p>
        </p:txBody>
      </p:sp>
      <p:sp>
        <p:nvSpPr>
          <p:cNvPr id="28" name="Shape 23"/>
          <p:cNvSpPr/>
          <p:nvPr/>
        </p:nvSpPr>
        <p:spPr>
          <a:xfrm>
            <a:off x="4709160" y="3246120"/>
            <a:ext cx="4114800" cy="1737360"/>
          </a:xfrm>
          <a:prstGeom prst="rect">
            <a:avLst/>
          </a:prstGeom>
          <a:solidFill>
            <a:srgbClr val="F8F4EC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4709160" y="3246120"/>
            <a:ext cx="54864" cy="1737360"/>
          </a:xfrm>
          <a:prstGeom prst="rect">
            <a:avLst/>
          </a:prstGeom>
          <a:solidFill>
            <a:srgbClr val="C9933A"/>
          </a:solidFill>
          <a:ln w="12700">
            <a:solidFill>
              <a:srgbClr val="C9933A"/>
            </a:solidFill>
            <a:prstDash val="solid"/>
          </a:ln>
        </p:spPr>
      </p:sp>
      <p:pic>
        <p:nvPicPr>
          <p:cNvPr id="30" name="Image 3" descr="/mnt/user-data/uploads/ACT_SETTINGS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818888" y="3355848"/>
            <a:ext cx="1280160" cy="1508760"/>
          </a:xfrm>
          <a:prstGeom prst="rect">
            <a:avLst/>
          </a:prstGeom>
        </p:spPr>
      </p:pic>
      <p:sp>
        <p:nvSpPr>
          <p:cNvPr id="31" name="Shape 25"/>
          <p:cNvSpPr/>
          <p:nvPr/>
        </p:nvSpPr>
        <p:spPr>
          <a:xfrm>
            <a:off x="6217920" y="3383280"/>
            <a:ext cx="1508760" cy="29260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6217920" y="338328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ACT_SETTINGS</a:t>
            </a:r>
            <a:endParaRPr lang="en-US" sz="950" dirty="0"/>
          </a:p>
        </p:txBody>
      </p:sp>
      <p:sp>
        <p:nvSpPr>
          <p:cNvPr id="33" name="Text 27"/>
          <p:cNvSpPr/>
          <p:nvPr/>
        </p:nvSpPr>
        <p:spPr>
          <a:xfrm>
            <a:off x="6217920" y="375818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size, Reminder &amp; Audio</a:t>
            </a:r>
            <a:endParaRPr lang="en-US" sz="1100" dirty="0"/>
          </a:p>
        </p:txBody>
      </p:sp>
      <p:sp>
        <p:nvSpPr>
          <p:cNvPr id="34" name="Text 28"/>
          <p:cNvSpPr/>
          <p:nvPr/>
        </p:nvSpPr>
        <p:spPr>
          <a:xfrm>
            <a:off x="6217920" y="420624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Components: US_05 · TEXTSIZE_1–2 · REMINDER_1 · AUDIO_1–2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C9933A"/>
          </a:solidFill>
          <a:ln w="12700">
            <a:solidFill>
              <a:srgbClr val="C993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E8B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SPOTLIGHT — AUDIO EXPERIENCE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Worship While You Read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24128"/>
            <a:ext cx="4114800" cy="45720"/>
          </a:xfrm>
          <a:prstGeom prst="rect">
            <a:avLst/>
          </a:prstGeom>
          <a:solidFill>
            <a:srgbClr val="C9933A"/>
          </a:solidFill>
          <a:ln w="12700">
            <a:solidFill>
              <a:srgbClr val="C993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88720"/>
            <a:ext cx="45720" cy="347472"/>
          </a:xfrm>
          <a:prstGeom prst="rect">
            <a:avLst/>
          </a:prstGeom>
          <a:solidFill>
            <a:srgbClr val="C9933A"/>
          </a:solidFill>
          <a:ln w="12700">
            <a:solidFill>
              <a:srgbClr val="C993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18872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ambient / worship music plays while reading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45720" cy="347472"/>
          </a:xfrm>
          <a:prstGeom prst="rect">
            <a:avLst/>
          </a:prstGeom>
          <a:solidFill>
            <a:srgbClr val="C9933A"/>
          </a:solidFill>
          <a:ln w="12700">
            <a:solidFill>
              <a:srgbClr val="C993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82880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Non-intrusive — music fades into the reading experience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2468880"/>
            <a:ext cx="45720" cy="347472"/>
          </a:xfrm>
          <a:prstGeom prst="rect">
            <a:avLst/>
          </a:prstGeom>
          <a:solidFill>
            <a:srgbClr val="C9933A"/>
          </a:solidFill>
          <a:ln w="12700">
            <a:solidFill>
              <a:srgbClr val="C993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46888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on or off with a single tap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45720" cy="347472"/>
          </a:xfrm>
          <a:prstGeom prst="rect">
            <a:avLst/>
          </a:prstGeom>
          <a:solidFill>
            <a:srgbClr val="C9933A"/>
          </a:solidFill>
          <a:ln w="12700">
            <a:solidFill>
              <a:srgbClr val="C993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10896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to create a calm, focused reading atmosphere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3749040"/>
            <a:ext cx="45720" cy="347472"/>
          </a:xfrm>
          <a:prstGeom prst="rect">
            <a:avLst/>
          </a:prstGeom>
          <a:solidFill>
            <a:srgbClr val="C9933A"/>
          </a:solidFill>
          <a:ln w="12700">
            <a:solidFill>
              <a:srgbClr val="C993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74904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 persists across chapter navigation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394960" y="777240"/>
            <a:ext cx="3383280" cy="4023360"/>
          </a:xfrm>
          <a:prstGeom prst="rect">
            <a:avLst/>
          </a:prstGeom>
          <a:solidFill>
            <a:srgbClr val="1A3259"/>
          </a:solidFill>
          <a:ln/>
        </p:spPr>
      </p:sp>
      <p:sp>
        <p:nvSpPr>
          <p:cNvPr id="17" name="Shape 15"/>
          <p:cNvSpPr/>
          <p:nvPr/>
        </p:nvSpPr>
        <p:spPr>
          <a:xfrm>
            <a:off x="5394960" y="777240"/>
            <a:ext cx="3383280" cy="64008"/>
          </a:xfrm>
          <a:prstGeom prst="rect">
            <a:avLst/>
          </a:prstGeom>
          <a:solidFill>
            <a:srgbClr val="C9933A"/>
          </a:solidFill>
          <a:ln w="12700">
            <a:solidFill>
              <a:srgbClr val="C9933A"/>
            </a:solidFill>
            <a:prstDash val="solid"/>
          </a:ln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1097280"/>
            <a:ext cx="1188720" cy="118872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5440680" y="25146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B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🎵 Now Playing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440680" y="288036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Ambient Worship Mix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5669280" y="3364992"/>
            <a:ext cx="2926080" cy="91440"/>
          </a:xfrm>
          <a:prstGeom prst="rect">
            <a:avLst/>
          </a:prstGeom>
          <a:solidFill>
            <a:srgbClr val="2A4A7F"/>
          </a:solidFill>
          <a:ln w="12700">
            <a:solidFill>
              <a:srgbClr val="2A4A7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669280" y="3364992"/>
            <a:ext cx="1371600" cy="91440"/>
          </a:xfrm>
          <a:prstGeom prst="rect">
            <a:avLst/>
          </a:prstGeom>
          <a:solidFill>
            <a:srgbClr val="C9933A"/>
          </a:solidFill>
          <a:ln w="12700">
            <a:solidFill>
              <a:srgbClr val="C9933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623560" y="35204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2:14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7772400" y="352044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4:33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5440680" y="39319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Genesis 1:1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D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9933A"/>
          </a:solidFill>
          <a:ln w="12700">
            <a:solidFill>
              <a:srgbClr val="C993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E8B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IMPLEMENTATION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Technical Stack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45720"/>
          </a:xfrm>
          <a:prstGeom prst="rect">
            <a:avLst/>
          </a:prstGeom>
          <a:solidFill>
            <a:srgbClr val="C9933A"/>
          </a:solidFill>
          <a:ln w="12700">
            <a:solidFill>
              <a:srgbClr val="C993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51560"/>
            <a:ext cx="2697480" cy="713232"/>
          </a:xfrm>
          <a:prstGeom prst="rect">
            <a:avLst/>
          </a:prstGeom>
          <a:solidFill>
            <a:srgbClr val="F0EAD6"/>
          </a:solidFill>
          <a:ln w="12700">
            <a:solidFill>
              <a:srgbClr val="DDD0B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225296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4672" y="111556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04672" y="1380744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Kotlin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154680" y="1051560"/>
            <a:ext cx="2697480" cy="713232"/>
          </a:xfrm>
          <a:prstGeom prst="rect">
            <a:avLst/>
          </a:prstGeom>
          <a:solidFill>
            <a:srgbClr val="EAF0FA"/>
          </a:solidFill>
          <a:ln w="12700">
            <a:solidFill>
              <a:srgbClr val="C0CDE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4408" y="1225296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85032" y="111556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Framework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3685032" y="1380744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(Android SDK)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035040" y="1051560"/>
            <a:ext cx="2697480" cy="713232"/>
          </a:xfrm>
          <a:prstGeom prst="rect">
            <a:avLst/>
          </a:prstGeom>
          <a:solidFill>
            <a:srgbClr val="EEF5EC"/>
          </a:solidFill>
          <a:ln w="12700">
            <a:solidFill>
              <a:srgbClr val="B8D8B0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4768" y="1225296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565392" y="111556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6565392" y="1380744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MVVM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274320" y="1965960"/>
            <a:ext cx="2697480" cy="713232"/>
          </a:xfrm>
          <a:prstGeom prst="rect">
            <a:avLst/>
          </a:prstGeom>
          <a:solidFill>
            <a:srgbClr val="F0EAD6"/>
          </a:solidFill>
          <a:ln w="12700">
            <a:solidFill>
              <a:srgbClr val="DDD0B0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2139696"/>
            <a:ext cx="320040" cy="3200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04672" y="202996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804672" y="2295144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Compose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3154680" y="1965960"/>
            <a:ext cx="2697480" cy="713232"/>
          </a:xfrm>
          <a:prstGeom prst="rect">
            <a:avLst/>
          </a:prstGeom>
          <a:solidFill>
            <a:srgbClr val="EAF0FA"/>
          </a:solidFill>
          <a:ln w="12700">
            <a:solidFill>
              <a:srgbClr val="C0CDE0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64408" y="2139696"/>
            <a:ext cx="320040" cy="32004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3685032" y="202996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Bible Data</a:t>
            </a:r>
            <a:endParaRPr lang="en-US" sz="900" dirty="0"/>
          </a:p>
        </p:txBody>
      </p:sp>
      <p:sp>
        <p:nvSpPr>
          <p:cNvPr id="25" name="Text 18"/>
          <p:cNvSpPr/>
          <p:nvPr/>
        </p:nvSpPr>
        <p:spPr>
          <a:xfrm>
            <a:off x="3685032" y="2295144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Genesis &amp; John (local)</a:t>
            </a:r>
            <a:endParaRPr lang="en-US" sz="1200" dirty="0"/>
          </a:p>
        </p:txBody>
      </p:sp>
      <p:sp>
        <p:nvSpPr>
          <p:cNvPr id="26" name="Shape 19"/>
          <p:cNvSpPr/>
          <p:nvPr/>
        </p:nvSpPr>
        <p:spPr>
          <a:xfrm>
            <a:off x="6035040" y="1965960"/>
            <a:ext cx="2697480" cy="713232"/>
          </a:xfrm>
          <a:prstGeom prst="rect">
            <a:avLst/>
          </a:prstGeom>
          <a:solidFill>
            <a:srgbClr val="EEF5EC"/>
          </a:solidFill>
          <a:ln w="12700">
            <a:solidFill>
              <a:srgbClr val="B8D8B0"/>
            </a:solidFill>
            <a:prstDash val="solid"/>
          </a:ln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44768" y="2139696"/>
            <a:ext cx="320040" cy="32004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565392" y="202996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</a:t>
            </a:r>
            <a:endParaRPr lang="en-US" sz="900" dirty="0"/>
          </a:p>
        </p:txBody>
      </p:sp>
      <p:sp>
        <p:nvSpPr>
          <p:cNvPr id="29" name="Text 21"/>
          <p:cNvSpPr/>
          <p:nvPr/>
        </p:nvSpPr>
        <p:spPr>
          <a:xfrm>
            <a:off x="6565392" y="2295144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MediaPlayer / ExoPlayer</a:t>
            </a:r>
            <a:endParaRPr lang="en-US" sz="1200" dirty="0"/>
          </a:p>
        </p:txBody>
      </p:sp>
      <p:sp>
        <p:nvSpPr>
          <p:cNvPr id="30" name="Shape 22"/>
          <p:cNvSpPr/>
          <p:nvPr/>
        </p:nvSpPr>
        <p:spPr>
          <a:xfrm>
            <a:off x="274320" y="2880360"/>
            <a:ext cx="2697480" cy="713232"/>
          </a:xfrm>
          <a:prstGeom prst="rect">
            <a:avLst/>
          </a:prstGeom>
          <a:solidFill>
            <a:srgbClr val="F0EAD6"/>
          </a:solidFill>
          <a:ln w="12700">
            <a:solidFill>
              <a:srgbClr val="DDD0B0"/>
            </a:solidFill>
            <a:prstDash val="solid"/>
          </a:ln>
        </p:spPr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4048" y="3054096"/>
            <a:ext cx="320040" cy="320040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804672" y="294436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900" dirty="0"/>
          </a:p>
        </p:txBody>
      </p:sp>
      <p:sp>
        <p:nvSpPr>
          <p:cNvPr id="33" name="Text 24"/>
          <p:cNvSpPr/>
          <p:nvPr/>
        </p:nvSpPr>
        <p:spPr>
          <a:xfrm>
            <a:off x="804672" y="3209544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WorkManager + AlarmManager</a:t>
            </a:r>
            <a:endParaRPr lang="en-US" sz="1200" dirty="0"/>
          </a:p>
        </p:txBody>
      </p:sp>
      <p:sp>
        <p:nvSpPr>
          <p:cNvPr id="34" name="Shape 25"/>
          <p:cNvSpPr/>
          <p:nvPr/>
        </p:nvSpPr>
        <p:spPr>
          <a:xfrm>
            <a:off x="3154680" y="2880360"/>
            <a:ext cx="2697480" cy="713232"/>
          </a:xfrm>
          <a:prstGeom prst="rect">
            <a:avLst/>
          </a:prstGeom>
          <a:solidFill>
            <a:srgbClr val="EAF0FA"/>
          </a:solidFill>
          <a:ln w="12700">
            <a:solidFill>
              <a:srgbClr val="C0CDE0"/>
            </a:solidFill>
            <a:prstDash val="solid"/>
          </a:ln>
        </p:spPr>
      </p:sp>
      <p:pic>
        <p:nvPicPr>
          <p:cNvPr id="3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64408" y="3054096"/>
            <a:ext cx="320040" cy="320040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3685032" y="294436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Android</a:t>
            </a:r>
            <a:endParaRPr lang="en-US" sz="900" dirty="0"/>
          </a:p>
        </p:txBody>
      </p:sp>
      <p:sp>
        <p:nvSpPr>
          <p:cNvPr id="37" name="Text 27"/>
          <p:cNvSpPr/>
          <p:nvPr/>
        </p:nvSpPr>
        <p:spPr>
          <a:xfrm>
            <a:off x="3685032" y="3209544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21  (Android 5.0+)</a:t>
            </a:r>
            <a:endParaRPr lang="en-US" sz="1200" dirty="0"/>
          </a:p>
        </p:txBody>
      </p:sp>
      <p:sp>
        <p:nvSpPr>
          <p:cNvPr id="38" name="Shape 28"/>
          <p:cNvSpPr/>
          <p:nvPr/>
        </p:nvSpPr>
        <p:spPr>
          <a:xfrm>
            <a:off x="6035040" y="2880360"/>
            <a:ext cx="2697480" cy="713232"/>
          </a:xfrm>
          <a:prstGeom prst="rect">
            <a:avLst/>
          </a:prstGeom>
          <a:solidFill>
            <a:srgbClr val="EEF5EC"/>
          </a:solidFill>
          <a:ln w="12700">
            <a:solidFill>
              <a:srgbClr val="B8D8B0"/>
            </a:solidFill>
            <a:prstDash val="solid"/>
          </a:ln>
        </p:spPr>
      </p:sp>
      <p:pic>
        <p:nvPicPr>
          <p:cNvPr id="3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44768" y="3054096"/>
            <a:ext cx="320040" cy="320040"/>
          </a:xfrm>
          <a:prstGeom prst="rect">
            <a:avLst/>
          </a:prstGeom>
        </p:spPr>
      </p:pic>
      <p:sp>
        <p:nvSpPr>
          <p:cNvPr id="40" name="Text 29"/>
          <p:cNvSpPr/>
          <p:nvPr/>
        </p:nvSpPr>
        <p:spPr>
          <a:xfrm>
            <a:off x="6565392" y="294436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Device</a:t>
            </a:r>
            <a:endParaRPr lang="en-US" sz="900" dirty="0"/>
          </a:p>
        </p:txBody>
      </p:sp>
      <p:sp>
        <p:nvSpPr>
          <p:cNvPr id="41" name="Text 30"/>
          <p:cNvSpPr/>
          <p:nvPr/>
        </p:nvSpPr>
        <p:spPr>
          <a:xfrm>
            <a:off x="6565392" y="3209544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Phone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9933A"/>
          </a:solidFill>
          <a:ln w="12700">
            <a:solidFill>
              <a:srgbClr val="C993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E8B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IMPLEMENTATION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UI Design Decisions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45720"/>
          </a:xfrm>
          <a:prstGeom prst="rect">
            <a:avLst/>
          </a:prstGeom>
          <a:solidFill>
            <a:srgbClr val="C9933A"/>
          </a:solidFill>
          <a:ln w="12700">
            <a:solidFill>
              <a:srgbClr val="C993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97280"/>
            <a:ext cx="4023360" cy="1005840"/>
          </a:xfrm>
          <a:prstGeom prst="rect">
            <a:avLst/>
          </a:prstGeom>
          <a:solidFill>
            <a:srgbClr val="1A3259"/>
          </a:solidFill>
          <a:ln w="12700">
            <a:solidFill>
              <a:srgbClr val="2A4A7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97280"/>
            <a:ext cx="4023360" cy="54864"/>
          </a:xfrm>
          <a:prstGeom prst="rect">
            <a:avLst/>
          </a:prstGeom>
          <a:solidFill>
            <a:srgbClr val="C9933A"/>
          </a:solidFill>
          <a:ln w="12700">
            <a:solidFill>
              <a:srgbClr val="C9933A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" y="132588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60120" y="120700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8B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Scheme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960120" y="1536192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 / Gold primary · Warm neutral backgrounds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754880" y="1097280"/>
            <a:ext cx="4023360" cy="1005840"/>
          </a:xfrm>
          <a:prstGeom prst="rect">
            <a:avLst/>
          </a:prstGeom>
          <a:solidFill>
            <a:srgbClr val="1A3259"/>
          </a:solidFill>
          <a:ln w="12700">
            <a:solidFill>
              <a:srgbClr val="2A4A7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754880" y="1097280"/>
            <a:ext cx="4023360" cy="54864"/>
          </a:xfrm>
          <a:prstGeom prst="rect">
            <a:avLst/>
          </a:prstGeom>
          <a:solidFill>
            <a:srgbClr val="C9933A"/>
          </a:solidFill>
          <a:ln w="12700">
            <a:solidFill>
              <a:srgbClr val="C9933A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8" y="132588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49240" y="120700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8B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Typography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5349240" y="1536192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Design 3 type scale — clean and accessible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365760" y="2331720"/>
            <a:ext cx="4023360" cy="1005840"/>
          </a:xfrm>
          <a:prstGeom prst="rect">
            <a:avLst/>
          </a:prstGeom>
          <a:solidFill>
            <a:srgbClr val="1A3259"/>
          </a:solidFill>
          <a:ln w="12700">
            <a:solidFill>
              <a:srgbClr val="2A4A7F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365760" y="2331720"/>
            <a:ext cx="4023360" cy="54864"/>
          </a:xfrm>
          <a:prstGeom prst="rect">
            <a:avLst/>
          </a:prstGeom>
          <a:solidFill>
            <a:srgbClr val="C9933A"/>
          </a:solidFill>
          <a:ln w="12700">
            <a:solidFill>
              <a:srgbClr val="C9933A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256032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60120" y="244144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8B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Support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960120" y="2770632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| Dark | Sepia — user controlled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4754880" y="2331720"/>
            <a:ext cx="4023360" cy="1005840"/>
          </a:xfrm>
          <a:prstGeom prst="rect">
            <a:avLst/>
          </a:prstGeom>
          <a:solidFill>
            <a:srgbClr val="1A3259"/>
          </a:solidFill>
          <a:ln w="12700">
            <a:solidFill>
              <a:srgbClr val="2A4A7F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4754880" y="2331720"/>
            <a:ext cx="4023360" cy="54864"/>
          </a:xfrm>
          <a:prstGeom prst="rect">
            <a:avLst/>
          </a:prstGeom>
          <a:solidFill>
            <a:srgbClr val="C9933A"/>
          </a:solidFill>
          <a:ln w="12700">
            <a:solidFill>
              <a:srgbClr val="C9933A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2560320"/>
            <a:ext cx="365760" cy="36576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349240" y="244144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8B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 Control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5349240" y="2770632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| M | L | XL — adjustable in Settings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365760" y="3566160"/>
            <a:ext cx="4023360" cy="1005840"/>
          </a:xfrm>
          <a:prstGeom prst="rect">
            <a:avLst/>
          </a:prstGeom>
          <a:solidFill>
            <a:srgbClr val="1A3259"/>
          </a:solidFill>
          <a:ln w="12700">
            <a:solidFill>
              <a:srgbClr val="2A4A7F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365760" y="3566160"/>
            <a:ext cx="4023360" cy="54864"/>
          </a:xfrm>
          <a:prstGeom prst="rect">
            <a:avLst/>
          </a:prstGeom>
          <a:solidFill>
            <a:srgbClr val="C9933A"/>
          </a:solidFill>
          <a:ln w="12700">
            <a:solidFill>
              <a:srgbClr val="C9933A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" y="3794760"/>
            <a:ext cx="365760" cy="36576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960120" y="367588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8B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Toggle</a:t>
            </a:r>
            <a:endParaRPr lang="en-US" sz="1100" dirty="0"/>
          </a:p>
        </p:txBody>
      </p:sp>
      <p:sp>
        <p:nvSpPr>
          <p:cNvPr id="30" name="Text 23"/>
          <p:cNvSpPr/>
          <p:nvPr/>
        </p:nvSpPr>
        <p:spPr>
          <a:xfrm>
            <a:off x="960120" y="4005072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music toggle in the Reader screen</a:t>
            </a:r>
            <a:endParaRPr lang="en-US" sz="1100" dirty="0"/>
          </a:p>
        </p:txBody>
      </p:sp>
      <p:sp>
        <p:nvSpPr>
          <p:cNvPr id="31" name="Shape 24"/>
          <p:cNvSpPr/>
          <p:nvPr/>
        </p:nvSpPr>
        <p:spPr>
          <a:xfrm>
            <a:off x="4754880" y="3566160"/>
            <a:ext cx="4023360" cy="1005840"/>
          </a:xfrm>
          <a:prstGeom prst="rect">
            <a:avLst/>
          </a:prstGeom>
          <a:solidFill>
            <a:srgbClr val="1A3259"/>
          </a:solidFill>
          <a:ln w="12700">
            <a:solidFill>
              <a:srgbClr val="2A4A7F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4754880" y="3566160"/>
            <a:ext cx="4023360" cy="54864"/>
          </a:xfrm>
          <a:prstGeom prst="rect">
            <a:avLst/>
          </a:prstGeom>
          <a:solidFill>
            <a:srgbClr val="C9933A"/>
          </a:solidFill>
          <a:ln w="12700">
            <a:solidFill>
              <a:srgbClr val="C9933A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64608" y="3794760"/>
            <a:ext cx="365760" cy="36576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5349240" y="367588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8B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</a:t>
            </a:r>
            <a:endParaRPr lang="en-US" sz="1100" dirty="0"/>
          </a:p>
        </p:txBody>
      </p:sp>
      <p:sp>
        <p:nvSpPr>
          <p:cNvPr id="35" name="Text 27"/>
          <p:cNvSpPr/>
          <p:nvPr/>
        </p:nvSpPr>
        <p:spPr>
          <a:xfrm>
            <a:off x="5349240" y="4005072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Nav — 4 tabs always visible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D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9933A"/>
          </a:solidFill>
          <a:ln w="12700">
            <a:solidFill>
              <a:srgbClr val="C993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E8B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IMPLEMENTATION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Navigation &amp; Data Flow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45720"/>
          </a:xfrm>
          <a:prstGeom prst="rect">
            <a:avLst/>
          </a:prstGeom>
          <a:solidFill>
            <a:srgbClr val="C9933A"/>
          </a:solidFill>
          <a:ln w="12700">
            <a:solidFill>
              <a:srgbClr val="C993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2412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Routes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417320"/>
            <a:ext cx="4023360" cy="475488"/>
          </a:xfrm>
          <a:prstGeom prst="rect">
            <a:avLst/>
          </a:prstGeom>
          <a:solidFill>
            <a:srgbClr val="F0EAD6"/>
          </a:solidFill>
          <a:ln w="12700">
            <a:solidFill>
              <a:srgbClr val="DDD0B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417320"/>
            <a:ext cx="54864" cy="475488"/>
          </a:xfrm>
          <a:prstGeom prst="rect">
            <a:avLst/>
          </a:prstGeom>
          <a:solidFill>
            <a:srgbClr val="C9933A"/>
          </a:solidFill>
          <a:ln w="12700">
            <a:solidFill>
              <a:srgbClr val="C993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43560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1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ACT_HOME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651760" y="14356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/home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2039112"/>
            <a:ext cx="4023360" cy="475488"/>
          </a:xfrm>
          <a:prstGeom prst="rect">
            <a:avLst/>
          </a:prstGeom>
          <a:solidFill>
            <a:srgbClr val="F0EAD6"/>
          </a:solidFill>
          <a:ln w="12700">
            <a:solidFill>
              <a:srgbClr val="DDD0B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039112"/>
            <a:ext cx="54864" cy="475488"/>
          </a:xfrm>
          <a:prstGeom prst="rect">
            <a:avLst/>
          </a:prstGeom>
          <a:solidFill>
            <a:srgbClr val="C9933A"/>
          </a:solidFill>
          <a:ln w="12700">
            <a:solidFill>
              <a:srgbClr val="C993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05740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1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ACT_SEARCH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651760" y="20574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/search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2660904"/>
            <a:ext cx="4023360" cy="475488"/>
          </a:xfrm>
          <a:prstGeom prst="rect">
            <a:avLst/>
          </a:prstGeom>
          <a:solidFill>
            <a:srgbClr val="F0EAD6"/>
          </a:solidFill>
          <a:ln w="12700">
            <a:solidFill>
              <a:srgbClr val="DDD0B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660904"/>
            <a:ext cx="54864" cy="475488"/>
          </a:xfrm>
          <a:prstGeom prst="rect">
            <a:avLst/>
          </a:prstGeom>
          <a:solidFill>
            <a:srgbClr val="C9933A"/>
          </a:solidFill>
          <a:ln w="12700">
            <a:solidFill>
              <a:srgbClr val="C993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67919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1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ACT_READ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651760" y="26791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/read/{bookId}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" y="3282696"/>
            <a:ext cx="4023360" cy="475488"/>
          </a:xfrm>
          <a:prstGeom prst="rect">
            <a:avLst/>
          </a:prstGeom>
          <a:solidFill>
            <a:srgbClr val="F0EAD6"/>
          </a:solidFill>
          <a:ln w="12700">
            <a:solidFill>
              <a:srgbClr val="DDD0B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282696"/>
            <a:ext cx="54864" cy="475488"/>
          </a:xfrm>
          <a:prstGeom prst="rect">
            <a:avLst/>
          </a:prstGeom>
          <a:solidFill>
            <a:srgbClr val="C9933A"/>
          </a:solidFill>
          <a:ln w="12700">
            <a:solidFill>
              <a:srgbClr val="C993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30098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1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ACT_READ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651760" y="330098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/read/{bookId}/{chapter}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65760" y="3904488"/>
            <a:ext cx="4023360" cy="475488"/>
          </a:xfrm>
          <a:prstGeom prst="rect">
            <a:avLst/>
          </a:prstGeom>
          <a:solidFill>
            <a:srgbClr val="F0EAD6"/>
          </a:solidFill>
          <a:ln w="12700">
            <a:solidFill>
              <a:srgbClr val="DDD0B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3904488"/>
            <a:ext cx="54864" cy="475488"/>
          </a:xfrm>
          <a:prstGeom prst="rect">
            <a:avLst/>
          </a:prstGeom>
          <a:solidFill>
            <a:srgbClr val="C9933A"/>
          </a:solidFill>
          <a:ln w="12700">
            <a:solidFill>
              <a:srgbClr val="C9933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92277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1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ACT_SETTINGS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651760" y="39227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/settings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846320" y="102412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846320" y="1417320"/>
            <a:ext cx="3931920" cy="45720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29" name="Text 27"/>
          <p:cNvSpPr/>
          <p:nvPr/>
        </p:nvSpPr>
        <p:spPr>
          <a:xfrm>
            <a:off x="4846320" y="141732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9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285232" y="146304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taps verse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983480" y="1874520"/>
            <a:ext cx="54864" cy="201168"/>
          </a:xfrm>
          <a:prstGeom prst="rect">
            <a:avLst/>
          </a:prstGeom>
          <a:solidFill>
            <a:srgbClr val="C9933A"/>
          </a:solidFill>
          <a:ln w="12700">
            <a:solidFill>
              <a:srgbClr val="C9933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46320" y="2075688"/>
            <a:ext cx="3931920" cy="457200"/>
          </a:xfrm>
          <a:prstGeom prst="rect">
            <a:avLst/>
          </a:prstGeom>
          <a:solidFill>
            <a:srgbClr val="1A3259"/>
          </a:solidFill>
          <a:ln/>
        </p:spPr>
      </p:sp>
      <p:sp>
        <p:nvSpPr>
          <p:cNvPr id="33" name="Text 31"/>
          <p:cNvSpPr/>
          <p:nvPr/>
        </p:nvSpPr>
        <p:spPr>
          <a:xfrm>
            <a:off x="4846320" y="2075688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9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285232" y="212140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SearchActivity.kt  (UI Layer)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983480" y="2532888"/>
            <a:ext cx="54864" cy="201168"/>
          </a:xfrm>
          <a:prstGeom prst="rect">
            <a:avLst/>
          </a:prstGeom>
          <a:solidFill>
            <a:srgbClr val="C9933A"/>
          </a:solidFill>
          <a:ln w="12700">
            <a:solidFill>
              <a:srgbClr val="C9933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46320" y="2734056"/>
            <a:ext cx="3931920" cy="45720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7" name="Text 35"/>
          <p:cNvSpPr/>
          <p:nvPr/>
        </p:nvSpPr>
        <p:spPr>
          <a:xfrm>
            <a:off x="4846320" y="2734056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9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285232" y="2779776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ReadActivity.kt  (handles state)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983480" y="3191256"/>
            <a:ext cx="54864" cy="201168"/>
          </a:xfrm>
          <a:prstGeom prst="rect">
            <a:avLst/>
          </a:prstGeom>
          <a:solidFill>
            <a:srgbClr val="C9933A"/>
          </a:solidFill>
          <a:ln w="12700">
            <a:solidFill>
              <a:srgbClr val="C9933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846320" y="3392424"/>
            <a:ext cx="3931920" cy="457200"/>
          </a:xfrm>
          <a:prstGeom prst="rect">
            <a:avLst/>
          </a:prstGeom>
          <a:solidFill>
            <a:srgbClr val="1A3259"/>
          </a:solidFill>
          <a:ln/>
        </p:spPr>
      </p:sp>
      <p:sp>
        <p:nvSpPr>
          <p:cNvPr id="41" name="Text 39"/>
          <p:cNvSpPr/>
          <p:nvPr/>
        </p:nvSpPr>
        <p:spPr>
          <a:xfrm>
            <a:off x="4846320" y="3392424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9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5285232" y="3438144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BibleRepository.kt  (data ops)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983480" y="3849624"/>
            <a:ext cx="54864" cy="201168"/>
          </a:xfrm>
          <a:prstGeom prst="rect">
            <a:avLst/>
          </a:prstGeom>
          <a:solidFill>
            <a:srgbClr val="C9933A"/>
          </a:solidFill>
          <a:ln w="12700">
            <a:solidFill>
              <a:srgbClr val="C9933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846320" y="4050792"/>
            <a:ext cx="3931920" cy="45720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45" name="Text 43"/>
          <p:cNvSpPr/>
          <p:nvPr/>
        </p:nvSpPr>
        <p:spPr>
          <a:xfrm>
            <a:off x="4846320" y="4050792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9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5285232" y="409651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DataStore  (local persistence)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9933A"/>
          </a:solidFill>
          <a:ln w="12700">
            <a:solidFill>
              <a:srgbClr val="C993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E8B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&amp; RECOMMENDATIONS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Insights — What's Not Yet Done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45720"/>
          </a:xfrm>
          <a:prstGeom prst="rect">
            <a:avLst/>
          </a:prstGeom>
          <a:solidFill>
            <a:srgbClr val="C9933A"/>
          </a:solidFill>
          <a:ln w="12700">
            <a:solidFill>
              <a:srgbClr val="C993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97280"/>
            <a:ext cx="8412480" cy="1051560"/>
          </a:xfrm>
          <a:prstGeom prst="rect">
            <a:avLst/>
          </a:prstGeom>
          <a:solidFill>
            <a:srgbClr val="1A3259"/>
          </a:solidFill>
          <a:ln w="12700">
            <a:solidFill>
              <a:srgbClr val="2A4A7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97280"/>
            <a:ext cx="73152" cy="1051560"/>
          </a:xfrm>
          <a:prstGeom prst="rect">
            <a:avLst/>
          </a:prstGeom>
          <a:solidFill>
            <a:srgbClr val="C9933A"/>
          </a:solidFill>
          <a:ln w="12700">
            <a:solidFill>
              <a:srgbClr val="C993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1887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8B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Limited Bible Coverage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48132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Genesis &amp; John are included. The remaining 64 books are not yet in scope.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303520" y="1280160"/>
            <a:ext cx="3291840" cy="640080"/>
          </a:xfrm>
          <a:prstGeom prst="rect">
            <a:avLst/>
          </a:prstGeom>
          <a:solidFill>
            <a:srgbClr val="0D1E3A"/>
          </a:solidFill>
          <a:ln w="12700">
            <a:solidFill>
              <a:srgbClr val="C993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49240" y="13716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E8B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Full Bible text can be loaded into BibleData.kt in future iterations.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2350008"/>
            <a:ext cx="8412480" cy="1051560"/>
          </a:xfrm>
          <a:prstGeom prst="rect">
            <a:avLst/>
          </a:prstGeom>
          <a:solidFill>
            <a:srgbClr val="1A3259"/>
          </a:solidFill>
          <a:ln w="12700">
            <a:solidFill>
              <a:srgbClr val="2A4A7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350008"/>
            <a:ext cx="73152" cy="1051560"/>
          </a:xfrm>
          <a:prstGeom prst="rect">
            <a:avLst/>
          </a:prstGeom>
          <a:solidFill>
            <a:srgbClr val="C9933A"/>
          </a:solidFill>
          <a:ln w="12700">
            <a:solidFill>
              <a:srgbClr val="C993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4414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8B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Single Translation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2734056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UI supports translation switching but only one translation dataset is loaded.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303520" y="2532888"/>
            <a:ext cx="3291840" cy="640080"/>
          </a:xfrm>
          <a:prstGeom prst="rect">
            <a:avLst/>
          </a:prstGeom>
          <a:solidFill>
            <a:srgbClr val="0D1E3A"/>
          </a:solidFill>
          <a:ln w="12700">
            <a:solidFill>
              <a:srgbClr val="C993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49240" y="262432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E8B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KJV/NIV/ESV data files can be added per book without architectural changes.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3602736"/>
            <a:ext cx="8412480" cy="1051560"/>
          </a:xfrm>
          <a:prstGeom prst="rect">
            <a:avLst/>
          </a:prstGeom>
          <a:solidFill>
            <a:srgbClr val="1A3259"/>
          </a:solidFill>
          <a:ln w="12700">
            <a:solidFill>
              <a:srgbClr val="2A4A7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602736"/>
            <a:ext cx="73152" cy="1051560"/>
          </a:xfrm>
          <a:prstGeom prst="rect">
            <a:avLst/>
          </a:prstGeom>
          <a:solidFill>
            <a:srgbClr val="C9933A"/>
          </a:solidFill>
          <a:ln w="12700">
            <a:solidFill>
              <a:srgbClr val="C993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69417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8B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Android Only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3986784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iOS support currently; the app is native Android with Kotlin + Java.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303520" y="3785616"/>
            <a:ext cx="3291840" cy="640080"/>
          </a:xfrm>
          <a:prstGeom prst="rect">
            <a:avLst/>
          </a:prstGeom>
          <a:solidFill>
            <a:srgbClr val="0D1E3A"/>
          </a:solidFill>
          <a:ln w="12700">
            <a:solidFill>
              <a:srgbClr val="C993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49240" y="3877056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E8B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Future: Flutter or React Native for cross-platform deployment.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D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9933A"/>
          </a:solidFill>
          <a:ln w="12700">
            <a:solidFill>
              <a:srgbClr val="C993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E8B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&amp; RECOMMENDATIONS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Recommendations — Future Roadmap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45720"/>
          </a:xfrm>
          <a:prstGeom prst="rect">
            <a:avLst/>
          </a:prstGeom>
          <a:solidFill>
            <a:srgbClr val="C9933A"/>
          </a:solidFill>
          <a:ln w="12700">
            <a:solidFill>
              <a:srgbClr val="C993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97280"/>
            <a:ext cx="4023360" cy="960120"/>
          </a:xfrm>
          <a:prstGeom prst="rect">
            <a:avLst/>
          </a:prstGeom>
          <a:solidFill>
            <a:srgbClr val="F5EDD8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353312"/>
            <a:ext cx="438912" cy="438912"/>
          </a:xfrm>
          <a:prstGeom prst="oval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17320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51560" y="128016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all 66 Bible books to complete the Scripture coverage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709160" y="1097280"/>
            <a:ext cx="4023360" cy="960120"/>
          </a:xfrm>
          <a:prstGeom prst="rect">
            <a:avLst/>
          </a:prstGeom>
          <a:solidFill>
            <a:srgbClr val="F5EDD8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846320" y="1353312"/>
            <a:ext cx="438912" cy="438912"/>
          </a:xfrm>
          <a:prstGeom prst="oval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0328" y="141732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94960" y="128016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real translation data — NIV, ESV, NLT alongside KJV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365760" y="2286000"/>
            <a:ext cx="4023360" cy="960120"/>
          </a:xfrm>
          <a:prstGeom prst="rect">
            <a:avLst/>
          </a:prstGeom>
          <a:solidFill>
            <a:srgbClr val="F5EDD8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02920" y="2542032"/>
            <a:ext cx="438912" cy="438912"/>
          </a:xfrm>
          <a:prstGeom prst="oval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606040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51560" y="246888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audio: add Text-to-Speech Bible narration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4709160" y="2286000"/>
            <a:ext cx="4023360" cy="960120"/>
          </a:xfrm>
          <a:prstGeom prst="rect">
            <a:avLst/>
          </a:prstGeom>
          <a:solidFill>
            <a:srgbClr val="F5EDD8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4846320" y="2542032"/>
            <a:ext cx="438912" cy="438912"/>
          </a:xfrm>
          <a:prstGeom prst="oval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0328" y="2606040"/>
            <a:ext cx="292608" cy="29260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394960" y="246888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reading plan with progress tracking and streaks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365760" y="3474720"/>
            <a:ext cx="4023360" cy="960120"/>
          </a:xfrm>
          <a:prstGeom prst="rect">
            <a:avLst/>
          </a:prstGeom>
          <a:solidFill>
            <a:srgbClr val="F5EDD8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502920" y="3730752"/>
            <a:ext cx="438912" cy="438912"/>
          </a:xfrm>
          <a:prstGeom prst="oval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3794760"/>
            <a:ext cx="292608" cy="292608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051560" y="365760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cloud sync for bookmarks and personal notes</a:t>
            </a:r>
            <a:endParaRPr lang="en-US" sz="1200" dirty="0"/>
          </a:p>
        </p:txBody>
      </p:sp>
      <p:sp>
        <p:nvSpPr>
          <p:cNvPr id="26" name="Shape 19"/>
          <p:cNvSpPr/>
          <p:nvPr/>
        </p:nvSpPr>
        <p:spPr>
          <a:xfrm>
            <a:off x="4709160" y="3474720"/>
            <a:ext cx="4023360" cy="960120"/>
          </a:xfrm>
          <a:prstGeom prst="rect">
            <a:avLst/>
          </a:prstGeom>
          <a:solidFill>
            <a:srgbClr val="F5EDD8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4846320" y="3730752"/>
            <a:ext cx="438912" cy="438912"/>
          </a:xfrm>
          <a:prstGeom prst="oval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0328" y="3794760"/>
            <a:ext cx="292608" cy="292608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5394960" y="365760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support via Flutter or React Native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C9933A"/>
          </a:solidFill>
          <a:ln w="12700">
            <a:solidFill>
              <a:srgbClr val="C993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C9933A"/>
          </a:solidFill>
          <a:ln w="12700">
            <a:solidFill>
              <a:srgbClr val="C993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0" y="164592"/>
            <a:ext cx="2926080" cy="4809744"/>
          </a:xfrm>
          <a:prstGeom prst="rect">
            <a:avLst/>
          </a:prstGeom>
          <a:solidFill>
            <a:srgbClr val="1A3259"/>
          </a:solidFill>
          <a:ln w="12700">
            <a:solidFill>
              <a:srgbClr val="1A325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0" y="164592"/>
            <a:ext cx="54864" cy="4809744"/>
          </a:xfrm>
          <a:prstGeom prst="rect">
            <a:avLst/>
          </a:prstGeom>
          <a:solidFill>
            <a:srgbClr val="C9933A"/>
          </a:solidFill>
          <a:ln w="12700">
            <a:solidFill>
              <a:srgbClr val="C993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E8B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82296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Scripture</a:t>
            </a:r>
            <a:endParaRPr lang="en-US" sz="5200" dirty="0"/>
          </a:p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Light</a:t>
            </a:r>
            <a:endParaRPr lang="en-US" sz="5200" dirty="0"/>
          </a:p>
        </p:txBody>
      </p:sp>
      <p:sp>
        <p:nvSpPr>
          <p:cNvPr id="9" name="Shape 7"/>
          <p:cNvSpPr/>
          <p:nvPr/>
        </p:nvSpPr>
        <p:spPr>
          <a:xfrm>
            <a:off x="457200" y="2377440"/>
            <a:ext cx="3200400" cy="54864"/>
          </a:xfrm>
          <a:prstGeom prst="rect">
            <a:avLst/>
          </a:prstGeom>
          <a:solidFill>
            <a:srgbClr val="C9933A"/>
          </a:solidFill>
          <a:ln w="12700">
            <a:solidFill>
              <a:srgbClr val="C993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578608"/>
            <a:ext cx="109728" cy="109728"/>
          </a:xfrm>
          <a:prstGeom prst="oval">
            <a:avLst/>
          </a:prstGeom>
          <a:solidFill>
            <a:srgbClr val="C9933A"/>
          </a:solidFill>
          <a:ln w="12700">
            <a:solidFill>
              <a:srgbClr val="C993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542032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Kotlin + Java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2990088"/>
            <a:ext cx="109728" cy="109728"/>
          </a:xfrm>
          <a:prstGeom prst="oval">
            <a:avLst/>
          </a:prstGeom>
          <a:solidFill>
            <a:srgbClr val="C9933A"/>
          </a:solidFill>
          <a:ln w="12700">
            <a:solidFill>
              <a:srgbClr val="C993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953512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· Personal Use · Fully Offline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3401568"/>
            <a:ext cx="109728" cy="109728"/>
          </a:xfrm>
          <a:prstGeom prst="oval">
            <a:avLst/>
          </a:prstGeom>
          <a:solidFill>
            <a:srgbClr val="C9933A"/>
          </a:solidFill>
          <a:ln w="12700">
            <a:solidFill>
              <a:srgbClr val="C993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364992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Genesis &amp; John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3813048"/>
            <a:ext cx="109728" cy="109728"/>
          </a:xfrm>
          <a:prstGeom prst="oval">
            <a:avLst/>
          </a:prstGeom>
          <a:solidFill>
            <a:srgbClr val="C9933A"/>
          </a:solidFill>
          <a:ln w="12700">
            <a:solidFill>
              <a:srgbClr val="C993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776472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 worship audio experience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57200" y="4224528"/>
            <a:ext cx="109728" cy="109728"/>
          </a:xfrm>
          <a:prstGeom prst="oval">
            <a:avLst/>
          </a:prstGeom>
          <a:solidFill>
            <a:srgbClr val="C9933A"/>
          </a:solidFill>
          <a:ln w="12700">
            <a:solidFill>
              <a:srgbClr val="C993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4187952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verse push notifications</a:t>
            </a:r>
            <a:endParaRPr lang="en-US" sz="125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0" y="640080"/>
            <a:ext cx="1234440" cy="123444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6309360" y="2103120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F5ED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"Read. Listen.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i="1" dirty="0">
                <a:solidFill>
                  <a:srgbClr val="F5ED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Reflect. Anywhere."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6903720" y="3291840"/>
            <a:ext cx="1554480" cy="54864"/>
          </a:xfrm>
          <a:prstGeom prst="rect">
            <a:avLst/>
          </a:prstGeom>
          <a:solidFill>
            <a:srgbClr val="C9933A"/>
          </a:solidFill>
          <a:ln w="12700">
            <a:solidFill>
              <a:srgbClr val="C9933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309360" y="342900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B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PromptMaxxing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6309360" y="379476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Codera · Mariscal · Ponce · Yap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6309360" y="411480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Development  ·  2025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PromptMaxxing Bible App</dc:title>
  <dc:subject>PptxGenJS Presentation</dc:subject>
  <dc:creator>PptxGenJS</dc:creator>
  <cp:lastModifiedBy>PptxGenJS</cp:lastModifiedBy>
  <cp:revision>1</cp:revision>
  <dcterms:created xsi:type="dcterms:W3CDTF">2026-05-30T14:55:39Z</dcterms:created>
  <dcterms:modified xsi:type="dcterms:W3CDTF">2026-05-30T14:55:39Z</dcterms:modified>
</cp:coreProperties>
</file>